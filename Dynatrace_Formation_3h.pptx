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Connaître Dynatrace en 3 Heures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1F1F1F"/>
                </a:solidFill>
              </a:rPr>
              <a:t>OneAgent | Kubernetes | Cloud | Dashboards</a:t>
            </a:r>
          </a:p>
          <a:p>
            <a:r>
              <a:rPr sz="1800">
                <a:solidFill>
                  <a:srgbClr val="1F1F1F"/>
                </a:solidFill>
              </a:rPr>
              <a:t>Niveau debutant | Version mai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Programme de la formation (3h)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Module 1 - Accueil &amp; Introduction (25 min)</a:t>
            </a:r>
          </a:p>
          <a:p>
            <a:pPr/>
            <a:r>
              <a:rPr sz="2200">
                <a:solidFill>
                  <a:srgbClr val="1F1F1F"/>
                </a:solidFill>
              </a:rPr>
              <a:t>Module 2 - Naviguer dans Dynatrace (50 min)</a:t>
            </a:r>
          </a:p>
          <a:p>
            <a:pPr/>
            <a:r>
              <a:rPr sz="2200">
                <a:solidFill>
                  <a:srgbClr val="1F1F1F"/>
                </a:solidFill>
              </a:rPr>
              <a:t>Module 3 - Pause (15 min)</a:t>
            </a:r>
          </a:p>
          <a:p>
            <a:pPr/>
            <a:r>
              <a:rPr sz="2200">
                <a:solidFill>
                  <a:srgbClr val="1F1F1F"/>
                </a:solidFill>
              </a:rPr>
              <a:t>Module 4 - Logs, Metriques &amp; Alertes (45 min)</a:t>
            </a:r>
          </a:p>
          <a:p>
            <a:pPr/>
            <a:r>
              <a:rPr sz="2200">
                <a:solidFill>
                  <a:srgbClr val="1F1F1F"/>
                </a:solidFill>
              </a:rPr>
              <a:t>Module 5 - Creer un Dashboard (35 min)</a:t>
            </a:r>
          </a:p>
          <a:p>
            <a:pPr/>
            <a:r>
              <a:rPr sz="2200">
                <a:solidFill>
                  <a:srgbClr val="1F1F1F"/>
                </a:solidFill>
              </a:rPr>
              <a:t>Module 6 - Bilan &amp; Questions (10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Objectifs pedagogiques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Naviguer dans l'interface Dynatrace</a:t>
            </a:r>
          </a:p>
          <a:p>
            <a:pPr/>
            <a:r>
              <a:rPr sz="2200">
                <a:solidFill>
                  <a:srgbClr val="1F1F1F"/>
                </a:solidFill>
              </a:rPr>
              <a:t>Analyser logs, metriques, traces et topologie</a:t>
            </a:r>
          </a:p>
          <a:p>
            <a:pPr/>
            <a:r>
              <a:rPr sz="2200">
                <a:solidFill>
                  <a:srgbClr val="1F1F1F"/>
                </a:solidFill>
              </a:rPr>
              <a:t>Comprendre les incidents detectes par Davis AI</a:t>
            </a:r>
          </a:p>
          <a:p>
            <a:pPr/>
            <a:r>
              <a:rPr sz="2200">
                <a:solidFill>
                  <a:srgbClr val="1F1F1F"/>
                </a:solidFill>
              </a:rPr>
              <a:t>Creer un dashboard de supervision personnalisable</a:t>
            </a:r>
          </a:p>
          <a:p>
            <a:pPr/>
            <a:r>
              <a:rPr sz="2200">
                <a:solidFill>
                  <a:srgbClr val="1F1F1F"/>
                </a:solidFill>
              </a:rPr>
              <a:t>Executer un mini atelier Kubernetes + Dynatrace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Dynatrace en bref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0084D1"/>
                </a:solidFill>
              </a:rPr>
              <a:t>Sans Dynatrace</a:t>
            </a:r>
          </a:p>
          <a:p>
            <a:pPr/>
            <a:r>
              <a:rPr sz="1800">
                <a:solidFill>
                  <a:srgbClr val="1F1F1F"/>
                </a:solidFill>
              </a:rPr>
              <a:t>- Incidents detectes tardivement</a:t>
            </a:r>
          </a:p>
          <a:p>
            <a:pPr/>
            <a:r>
              <a:rPr sz="1800">
                <a:solidFill>
                  <a:srgbClr val="1F1F1F"/>
                </a:solidFill>
              </a:rPr>
              <a:t>- Analyse manuelle sur plusieurs outils</a:t>
            </a:r>
          </a:p>
          <a:p>
            <a:pPr/>
            <a:r>
              <a:rPr sz="1800">
                <a:solidFill>
                  <a:srgbClr val="1F1F1F"/>
                </a:solidFill>
              </a:rPr>
              <a:t>- Cause racine difficile a identifier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0" y="1371600"/>
            <a:ext cx="6217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0084D1"/>
                </a:solidFill>
              </a:rPr>
              <a:t>Avec Dynatrace</a:t>
            </a:r>
          </a:p>
          <a:p>
            <a:pPr/>
            <a:r>
              <a:rPr sz="1800">
                <a:solidFill>
                  <a:srgbClr val="1F1F1F"/>
                </a:solidFill>
              </a:rPr>
              <a:t>- Detection proactive avec Davis AI</a:t>
            </a:r>
          </a:p>
          <a:p>
            <a:pPr/>
            <a:r>
              <a:rPr sz="1800">
                <a:solidFill>
                  <a:srgbClr val="1F1F1F"/>
                </a:solidFill>
              </a:rPr>
              <a:t>- Donnees unifiees dans une seule plateforme</a:t>
            </a:r>
          </a:p>
          <a:p>
            <a:pPr/>
            <a:r>
              <a:rPr sz="1800">
                <a:solidFill>
                  <a:srgbClr val="1F1F1F"/>
                </a:solidFill>
              </a:rPr>
              <a:t>- Topologie et dependances detectees automatiquement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Les 4 types de donnees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Metriques: CPU, memoire, latence, debit</a:t>
            </a:r>
          </a:p>
          <a:p>
            <a:pPr/>
            <a:r>
              <a:rPr sz="2200">
                <a:solidFill>
                  <a:srgbClr val="1F1F1F"/>
                </a:solidFill>
              </a:rPr>
              <a:t>Logs: evenements, erreurs, debug</a:t>
            </a:r>
          </a:p>
          <a:p>
            <a:pPr/>
            <a:r>
              <a:rPr sz="2200">
                <a:solidFill>
                  <a:srgbClr val="1F1F1F"/>
                </a:solidFill>
              </a:rPr>
              <a:t>Traces: parcours bout-en-bout d'une requete</a:t>
            </a:r>
          </a:p>
          <a:p>
            <a:pPr/>
            <a:r>
              <a:rPr sz="2200">
                <a:solidFill>
                  <a:srgbClr val="1F1F1F"/>
                </a:solidFill>
              </a:rPr>
              <a:t>Topologie: carte des relations entre services et hotes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OneAgent: composant essentiel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Installe sur hotes, VM ou conteneurs</a:t>
            </a:r>
          </a:p>
          <a:p>
            <a:pPr/>
            <a:r>
              <a:rPr sz="2200">
                <a:solidFill>
                  <a:srgbClr val="1F1F1F"/>
                </a:solidFill>
              </a:rPr>
              <a:t>Auto-discovery des processus, services et dependances</a:t>
            </a:r>
          </a:p>
          <a:p>
            <a:pPr/>
            <a:r>
              <a:rPr sz="2200">
                <a:solidFill>
                  <a:srgbClr val="1F1F1F"/>
                </a:solidFill>
              </a:rPr>
              <a:t>Collecte metriques, traces et logs (selon config)</a:t>
            </a:r>
          </a:p>
          <a:p>
            <a:pPr/>
            <a:r>
              <a:rPr sz="2200">
                <a:solidFill>
                  <a:srgbClr val="1F1F1F"/>
                </a:solidFill>
              </a:rPr>
              <a:t>Ameliore la precision de l'analyse Davis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Module 2 - Navigation dans Dynatrace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Infrastructure -&gt; Hosts: sante des hotes</a:t>
            </a:r>
          </a:p>
          <a:p>
            <a:pPr/>
            <a:r>
              <a:rPr sz="2200">
                <a:solidFill>
                  <a:srgbClr val="1F1F1F"/>
                </a:solidFill>
              </a:rPr>
              <a:t>Applications -&gt; Services: erreurs, latence, debit</a:t>
            </a:r>
          </a:p>
          <a:p>
            <a:pPr/>
            <a:r>
              <a:rPr sz="2200">
                <a:solidFill>
                  <a:srgbClr val="1F1F1F"/>
                </a:solidFill>
              </a:rPr>
              <a:t>Infrastructure -&gt; Smartscape: topologie applicative</a:t>
            </a:r>
          </a:p>
          <a:p>
            <a:pPr/>
            <a:r>
              <a:rPr sz="2200">
                <a:solidFill>
                  <a:srgbClr val="1F1F1F"/>
                </a:solidFill>
              </a:rPr>
              <a:t>Alerts -&gt; Problems: incidents et cause racine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Exercice guide - Analyse d'un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Ouvrir Alerts -&gt; Problems</a:t>
            </a:r>
          </a:p>
          <a:p>
            <a:pPr/>
            <a:r>
              <a:rPr sz="2200">
                <a:solidFill>
                  <a:srgbClr val="1F1F1F"/>
                </a:solidFill>
              </a:rPr>
              <a:t>Selectionner un incident ouvert ou resolu</a:t>
            </a:r>
          </a:p>
          <a:p>
            <a:pPr/>
            <a:r>
              <a:rPr sz="2200">
                <a:solidFill>
                  <a:srgbClr val="1F1F1F"/>
                </a:solidFill>
              </a:rPr>
              <a:t>Identifier les entites impactees</a:t>
            </a:r>
          </a:p>
          <a:p>
            <a:pPr/>
            <a:r>
              <a:rPr sz="2200">
                <a:solidFill>
                  <a:srgbClr val="1F1F1F"/>
                </a:solidFill>
              </a:rPr>
              <a:t>Lire la timeline et la root cause Davis AI</a:t>
            </a:r>
          </a:p>
          <a:p>
            <a:pPr/>
            <a:r>
              <a:rPr sz="2200">
                <a:solidFill>
                  <a:srgbClr val="1F1F1F"/>
                </a:solidFill>
              </a:rPr>
              <a:t>Valider le plan d'action de remediation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Module 4 - Logs et DQL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Filtrer rapidement les erreurs: loglevel == "ERROR"</a:t>
            </a:r>
          </a:p>
          <a:p>
            <a:pPr/>
            <a:r>
              <a:rPr sz="2200">
                <a:solidFill>
                  <a:srgbClr val="1F1F1F"/>
                </a:solidFill>
              </a:rPr>
              <a:t>Identifier les services les plus bruyants</a:t>
            </a:r>
          </a:p>
          <a:p>
            <a:pPr/>
            <a:r>
              <a:rPr sz="2200">
                <a:solidFill>
                  <a:srgbClr val="1F1F1F"/>
                </a:solidFill>
              </a:rPr>
              <a:t>Visualiser l'evolution des erreurs dans le temps</a:t>
            </a:r>
          </a:p>
          <a:p>
            <a:pPr/>
            <a:r>
              <a:rPr sz="2200">
                <a:solidFill>
                  <a:srgbClr val="1F1F1F"/>
                </a:solidFill>
              </a:rPr>
              <a:t>Transformer une requete DQL en tile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5 requetes DQL indispensables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Compter les erreurs globales</a:t>
            </a:r>
          </a:p>
          <a:p>
            <a:pPr/>
            <a:r>
              <a:rPr sz="2200">
                <a:solidFill>
                  <a:srgbClr val="1F1F1F"/>
                </a:solidFill>
              </a:rPr>
              <a:t>Lister les dernieres erreurs avec contexte</a:t>
            </a:r>
          </a:p>
          <a:p>
            <a:pPr/>
            <a:r>
              <a:rPr sz="2200">
                <a:solidFill>
                  <a:srgbClr val="1F1F1F"/>
                </a:solidFill>
              </a:rPr>
              <a:t>Classer les erreurs par service</a:t>
            </a:r>
          </a:p>
          <a:p>
            <a:pPr/>
            <a:r>
              <a:rPr sz="2200">
                <a:solidFill>
                  <a:srgbClr val="1F1F1F"/>
                </a:solidFill>
              </a:rPr>
              <a:t>Tracer les erreurs par tranche de 5 minutes</a:t>
            </a:r>
          </a:p>
          <a:p>
            <a:pPr/>
            <a:r>
              <a:rPr sz="2200">
                <a:solidFill>
                  <a:srgbClr val="1F1F1F"/>
                </a:solidFill>
              </a:rPr>
              <a:t>Filtrer dynamiquement avec une variable {{$service}}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Module 5 - Construire un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Tile KPI: nombre d'erreurs</a:t>
            </a:r>
          </a:p>
          <a:p>
            <a:pPr/>
            <a:r>
              <a:rPr sz="2200">
                <a:solidFill>
                  <a:srgbClr val="1F1F1F"/>
                </a:solidFill>
              </a:rPr>
              <a:t>Tile Line chart: evolution des erreurs</a:t>
            </a:r>
          </a:p>
          <a:p>
            <a:pPr/>
            <a:r>
              <a:rPr sz="2200">
                <a:solidFill>
                  <a:srgbClr val="1F1F1F"/>
                </a:solidFill>
              </a:rPr>
              <a:t>Tile Table: Top 5 services en erreur</a:t>
            </a:r>
          </a:p>
          <a:p>
            <a:pPr/>
            <a:r>
              <a:rPr sz="2200">
                <a:solidFill>
                  <a:srgbClr val="1F1F1F"/>
                </a:solidFill>
              </a:rPr>
              <a:t>Variables dynamiques: $service, $env</a:t>
            </a:r>
          </a:p>
          <a:p>
            <a:pPr/>
            <a:r>
              <a:rPr sz="2200">
                <a:solidFill>
                  <a:srgbClr val="1F1F1F"/>
                </a:solidFill>
              </a:rPr>
              <a:t>Partage du dashboard avec l'equipe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Atelier Kubernetes + Dynatrace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Prerequis: cluster Kubernetes + Dynatrace Operator</a:t>
            </a:r>
          </a:p>
          <a:p>
            <a:pPr/>
            <a:r>
              <a:rPr sz="2200">
                <a:solidFill>
                  <a:srgbClr val="1F1F1F"/>
                </a:solidFill>
              </a:rPr>
              <a:t>Deploiement namespace, deployment, service, ingress</a:t>
            </a:r>
          </a:p>
          <a:p>
            <a:pPr/>
            <a:r>
              <a:rPr sz="2200">
                <a:solidFill>
                  <a:srgbClr val="1F1F1F"/>
                </a:solidFill>
              </a:rPr>
              <a:t>Injection OneAgent via annotations Kubernetes</a:t>
            </a:r>
          </a:p>
          <a:p>
            <a:pPr/>
            <a:r>
              <a:rPr sz="2200">
                <a:solidFill>
                  <a:srgbClr val="1F1F1F"/>
                </a:solidFill>
              </a:rPr>
              <a:t>Verification des pods et de la visibilite Dynatrace</a:t>
            </a:r>
          </a:p>
          <a:p>
            <a:pPr/>
            <a:r>
              <a:rPr sz="2200">
                <a:solidFill>
                  <a:srgbClr val="1F1F1F"/>
                </a:solidFill>
              </a:rPr>
              <a:t>Test d'acces via Ingress NGINX (web-demo.local)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Commandes atelier (resume)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kubectl apply -f k8s/namespace.yaml</a:t>
            </a:r>
          </a:p>
          <a:p>
            <a:pPr/>
            <a:r>
              <a:rPr sz="2200">
                <a:solidFill>
                  <a:srgbClr val="1F1F1F"/>
                </a:solidFill>
              </a:rPr>
              <a:t>kubectl apply -f k8s/deployment.yaml</a:t>
            </a:r>
          </a:p>
          <a:p>
            <a:pPr/>
            <a:r>
              <a:rPr sz="2200">
                <a:solidFill>
                  <a:srgbClr val="1F1F1F"/>
                </a:solidFill>
              </a:rPr>
              <a:t>kubectl apply -f k8s/service.yaml</a:t>
            </a:r>
          </a:p>
          <a:p>
            <a:pPr/>
            <a:r>
              <a:rPr sz="2200">
                <a:solidFill>
                  <a:srgbClr val="1F1F1F"/>
                </a:solidFill>
              </a:rPr>
              <a:t>kubectl apply -f k8s/ingress.yaml</a:t>
            </a:r>
          </a:p>
          <a:p>
            <a:pPr/>
            <a:r>
              <a:rPr sz="2200">
                <a:solidFill>
                  <a:srgbClr val="1F1F1F"/>
                </a:solidFill>
              </a:rPr>
              <a:t>kubectl get pods,svc,ingress -n dynatrace-demo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Bonnes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Ne jamais versionner binaires lourds ou tokens</a:t>
            </a:r>
          </a:p>
          <a:p>
            <a:pPr/>
            <a:r>
              <a:rPr sz="2200">
                <a:solidFill>
                  <a:srgbClr val="1F1F1F"/>
                </a:solidFill>
              </a:rPr>
              <a:t>Commencer avec des seuils d'alerte larges puis affiner</a:t>
            </a:r>
          </a:p>
          <a:p>
            <a:pPr/>
            <a:r>
              <a:rPr sz="2200">
                <a:solidFill>
                  <a:srgbClr val="1F1F1F"/>
                </a:solidFill>
              </a:rPr>
              <a:t>Construire des dashboards par usage (ops/dev/management)</a:t>
            </a:r>
          </a:p>
          <a:p>
            <a:pPr/>
            <a:r>
              <a:rPr sz="2200">
                <a:solidFill>
                  <a:srgbClr val="1F1F1F"/>
                </a:solidFill>
              </a:rPr>
              <a:t>Documenter les requetes DQL reutilisables</a:t>
            </a:r>
          </a:p>
          <a:p>
            <a:pPr/>
            <a:r>
              <a:rPr sz="2200">
                <a:solidFill>
                  <a:srgbClr val="1F1F1F"/>
                </a:solidFill>
              </a:rPr>
              <a:t>Securiser les acces et privilegier le moindre privilege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Bilan &amp; quiz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Role de Davis AI dans la detection et la root cause</a:t>
            </a:r>
          </a:p>
          <a:p>
            <a:pPr/>
            <a:r>
              <a:rPr sz="2200">
                <a:solidFill>
                  <a:srgbClr val="1F1F1F"/>
                </a:solidFill>
              </a:rPr>
              <a:t>Filtrage de logs avec DQL</a:t>
            </a:r>
          </a:p>
          <a:p>
            <a:pPr/>
            <a:r>
              <a:rPr sz="2200">
                <a:solidFill>
                  <a:srgbClr val="1F1F1F"/>
                </a:solidFill>
              </a:rPr>
              <a:t>Difference Problem vs alerte de seuil</a:t>
            </a:r>
          </a:p>
          <a:p>
            <a:pPr/>
            <a:r>
              <a:rPr sz="2200">
                <a:solidFill>
                  <a:srgbClr val="1F1F1F"/>
                </a:solidFill>
              </a:rPr>
              <a:t>Creation de variable dashboard et usage dans DQL</a:t>
            </a:r>
          </a:p>
          <a:p>
            <a:pPr/>
            <a:r>
              <a:rPr sz="2200">
                <a:solidFill>
                  <a:srgbClr val="1F1F1F"/>
                </a:solidFill>
              </a:rPr>
              <a:t>Plan d'amelioration continue post-formation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144A7C"/>
                </a:solidFill>
              </a:rPr>
              <a:t>Ressources utiles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>
                <a:solidFill>
                  <a:srgbClr val="1F1F1F"/>
                </a:solidFill>
              </a:rPr>
              <a:t>Dynatrace University: university.dynatrace.com</a:t>
            </a:r>
          </a:p>
          <a:p>
            <a:pPr/>
            <a:r>
              <a:rPr sz="2200">
                <a:solidFill>
                  <a:srgbClr val="1F1F1F"/>
                </a:solidFill>
              </a:rPr>
              <a:t>Documentation: docs.dynatrace.com</a:t>
            </a:r>
          </a:p>
          <a:p>
            <a:pPr/>
            <a:r>
              <a:rPr sz="2200">
                <a:solidFill>
                  <a:srgbClr val="1F1F1F"/>
                </a:solidFill>
              </a:rPr>
              <a:t>Community: community.dynatrace.com</a:t>
            </a:r>
          </a:p>
          <a:p>
            <a:pPr/>
            <a:r>
              <a:rPr sz="2200">
                <a:solidFill>
                  <a:srgbClr val="1F1F1F"/>
                </a:solidFill>
              </a:rPr>
              <a:t>Parcours recommande: certification Associate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
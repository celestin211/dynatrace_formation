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6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Formation </a:t>
            </a:r>
            <a:r>
              <a:rPr lang="fr-FR" dirty="0" err="1">
                <a:solidFill>
                  <a:schemeClr val="bg1"/>
                </a:solidFill>
              </a:rPr>
              <a:t>Dynatrace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543779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5200" b="1" dirty="0">
                <a:solidFill>
                  <a:srgbClr val="FFFFFF"/>
                </a:solidFill>
              </a:rPr>
              <a:t>Formateur : </a:t>
            </a:r>
            <a:r>
              <a:rPr sz="5200" b="1" dirty="0">
                <a:solidFill>
                  <a:srgbClr val="FFFFFF"/>
                </a:solidFill>
              </a:rPr>
              <a:t> </a:t>
            </a:r>
            <a:r>
              <a:rPr lang="fr-FR" sz="5200" b="1" dirty="0" err="1">
                <a:solidFill>
                  <a:srgbClr val="FFFFFF"/>
                </a:solidFill>
              </a:rPr>
              <a:t>Dynatrace</a:t>
            </a:r>
            <a:endParaRPr sz="5200" b="1" dirty="0">
              <a:solidFill>
                <a:srgbClr val="FFFFFF"/>
              </a:solidFill>
            </a:endParaRPr>
          </a:p>
          <a:p>
            <a:r>
              <a:rPr sz="2400" dirty="0" err="1">
                <a:solidFill>
                  <a:srgbClr val="D6EEFF"/>
                </a:solidFill>
              </a:rPr>
              <a:t>OneAgent</a:t>
            </a:r>
            <a:r>
              <a:rPr sz="2400" dirty="0">
                <a:solidFill>
                  <a:srgbClr val="D6EEFF"/>
                </a:solidFill>
              </a:rPr>
              <a:t> • Kubernetes • DQL • Dashboards</a:t>
            </a:r>
          </a:p>
          <a:p>
            <a:r>
              <a:rPr sz="1800" dirty="0">
                <a:solidFill>
                  <a:srgbClr val="FFFFFF"/>
                </a:solidFill>
              </a:rPr>
              <a:t>Durée 3h | </a:t>
            </a:r>
            <a:r>
              <a:rPr sz="1800" dirty="0" err="1">
                <a:solidFill>
                  <a:srgbClr val="FFFFFF"/>
                </a:solidFill>
              </a:rPr>
              <a:t>Niveau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débutant</a:t>
            </a:r>
            <a:r>
              <a:rPr sz="1800" dirty="0">
                <a:solidFill>
                  <a:srgbClr val="FFFFFF"/>
                </a:solidFill>
              </a:rPr>
              <a:t>/</a:t>
            </a:r>
            <a:r>
              <a:rPr sz="1800" dirty="0" err="1">
                <a:solidFill>
                  <a:srgbClr val="FFFFFF"/>
                </a:solidFill>
              </a:rPr>
              <a:t>intermédiaire</a:t>
            </a:r>
            <a:endParaRPr sz="1800" dirty="0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5394960"/>
            <a:ext cx="3017520" cy="502920"/>
          </a:xfrm>
          <a:prstGeom prst="round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Session client -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À personnaliser : logo client / date / formateur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Connaître Dynatrace en 3 Heures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OneAgent | Kubernetes | Cloud | Dashboards</a:t>
            </a:r>
          </a:p>
          <a:p>
            <a:r>
              <a:rPr sz="1800">
                <a:solidFill>
                  <a:srgbClr val="FFFFFF"/>
                </a:solidFill>
              </a:rPr>
              <a:t>Niveau débutant | Version mai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Client Ready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Formation Dynatrace | Support visuel v3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Programme de la formation (3h)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F1F1F"/>
                </a:solidFill>
              </a:rPr>
              <a:t>Module 1 - Accueil &amp; Introduction (25 min)</a:t>
            </a:r>
          </a:p>
          <a:p>
            <a:r>
              <a:rPr sz="2200">
                <a:solidFill>
                  <a:srgbClr val="1F1F1F"/>
                </a:solidFill>
              </a:rPr>
              <a:t>Module 2 - Naviguer dans Dynatrace (50 min)</a:t>
            </a:r>
          </a:p>
          <a:p>
            <a:r>
              <a:rPr sz="2200">
                <a:solidFill>
                  <a:srgbClr val="1F1F1F"/>
                </a:solidFill>
              </a:rPr>
              <a:t>Module 3 - Pause (15 min)</a:t>
            </a:r>
          </a:p>
          <a:p>
            <a:r>
              <a:rPr sz="2200">
                <a:solidFill>
                  <a:srgbClr val="1F1F1F"/>
                </a:solidFill>
              </a:rPr>
              <a:t>Module 4 - Logs, Métriques &amp; Alertes (45 min)</a:t>
            </a:r>
          </a:p>
          <a:p>
            <a:r>
              <a:rPr sz="2200">
                <a:solidFill>
                  <a:srgbClr val="1F1F1F"/>
                </a:solidFill>
              </a:rPr>
              <a:t>Module 5 - Créer un Dashboard (35 min)</a:t>
            </a:r>
          </a:p>
          <a:p>
            <a:r>
              <a:rPr sz="2200">
                <a:solidFill>
                  <a:srgbClr val="1F1F1F"/>
                </a:solidFill>
              </a:rPr>
              <a:t>Module 6 - Bilan &amp; Questions (10 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Module 1 &amp; 2</a:t>
            </a:r>
          </a:p>
          <a:p>
            <a:r>
              <a:rPr sz="2000">
                <a:solidFill>
                  <a:srgbClr val="FFFFFF"/>
                </a:solidFill>
              </a:rPr>
              <a:t>Fondamentaux, navigation et incidents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3383280" cy="109728"/>
          </a:xfrm>
          <a:prstGeom prst="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F1F1F"/>
                </a:solidFill>
              </a:rPr>
              <a:t>Naviguer dans l'interface Dynatrace</a:t>
            </a:r>
          </a:p>
          <a:p>
            <a:r>
              <a:rPr sz="2200">
                <a:solidFill>
                  <a:srgbClr val="1F1F1F"/>
                </a:solidFill>
              </a:rPr>
              <a:t>Analyser logs, métriques, traces et topologie</a:t>
            </a:r>
          </a:p>
          <a:p>
            <a:r>
              <a:rPr sz="2200">
                <a:solidFill>
                  <a:srgbClr val="1F1F1F"/>
                </a:solidFill>
              </a:rPr>
              <a:t>Comprendre les incidents détectés par Davis AI</a:t>
            </a:r>
          </a:p>
          <a:p>
            <a:r>
              <a:rPr sz="2200">
                <a:solidFill>
                  <a:srgbClr val="1F1F1F"/>
                </a:solidFill>
              </a:rPr>
              <a:t>Créer un dashboard de supervision personnalisable</a:t>
            </a:r>
          </a:p>
          <a:p>
            <a:r>
              <a:rPr sz="2200">
                <a:solidFill>
                  <a:srgbClr val="1F1F1F"/>
                </a:solidFill>
              </a:rPr>
              <a:t>Exécuter un mini atelier Kubernetes + Dynatrace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Dynatrace en bref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84D1"/>
                </a:solidFill>
              </a:rPr>
              <a:t>Sans Dynatrace</a:t>
            </a:r>
          </a:p>
          <a:p>
            <a:r>
              <a:rPr sz="1800">
                <a:solidFill>
                  <a:srgbClr val="1F1F1F"/>
                </a:solidFill>
              </a:rPr>
              <a:t>- Incidents détectés tardivement</a:t>
            </a:r>
          </a:p>
          <a:p>
            <a:r>
              <a:rPr sz="1800">
                <a:solidFill>
                  <a:srgbClr val="1F1F1F"/>
                </a:solidFill>
              </a:rPr>
              <a:t>- Analyse manuelle sur plusieurs outils</a:t>
            </a:r>
          </a:p>
          <a:p>
            <a:r>
              <a:rPr sz="1800">
                <a:solidFill>
                  <a:srgbClr val="1F1F1F"/>
                </a:solidFill>
              </a:rPr>
              <a:t>- Cause racine difficile à identifier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371600"/>
            <a:ext cx="6217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84D1"/>
                </a:solidFill>
              </a:rPr>
              <a:t>Avec Dynatrace</a:t>
            </a:r>
          </a:p>
          <a:p>
            <a:r>
              <a:rPr sz="1800">
                <a:solidFill>
                  <a:srgbClr val="1F1F1F"/>
                </a:solidFill>
              </a:rPr>
              <a:t>- Détection proactive avec Davis AI</a:t>
            </a:r>
          </a:p>
          <a:p>
            <a:r>
              <a:rPr sz="1800">
                <a:solidFill>
                  <a:srgbClr val="1F1F1F"/>
                </a:solidFill>
              </a:rPr>
              <a:t>- Données unifiées dans une seule plateforme</a:t>
            </a:r>
          </a:p>
          <a:p>
            <a:r>
              <a:rPr sz="1800">
                <a:solidFill>
                  <a:srgbClr val="1F1F1F"/>
                </a:solidFill>
              </a:rPr>
              <a:t>- Topologie et dépendances détectées automatiquement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Comparatif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Les 4 types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F1F1F"/>
                </a:solidFill>
              </a:rPr>
              <a:t>Métriques : CPU, mémoire, latence, débit</a:t>
            </a:r>
          </a:p>
          <a:p>
            <a:r>
              <a:rPr sz="2200">
                <a:solidFill>
                  <a:srgbClr val="1F1F1F"/>
                </a:solidFill>
              </a:rPr>
              <a:t>Logs : événements, erreurs, debug</a:t>
            </a:r>
          </a:p>
          <a:p>
            <a:r>
              <a:rPr sz="2200">
                <a:solidFill>
                  <a:srgbClr val="1F1F1F"/>
                </a:solidFill>
              </a:rPr>
              <a:t>Traces : parcours bout-en-bout d'une requête</a:t>
            </a:r>
          </a:p>
          <a:p>
            <a:r>
              <a:rPr sz="2200">
                <a:solidFill>
                  <a:srgbClr val="1F1F1F"/>
                </a:solidFill>
              </a:rPr>
              <a:t>Topologie : carte des relations entre services et hôtes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OneAgent: composant essentiel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>
                <a:solidFill>
                  <a:srgbClr val="1F1F1F"/>
                </a:solidFill>
              </a:rPr>
              <a:t>Install</a:t>
            </a:r>
            <a:r>
              <a:rPr lang="fr-FR" sz="2200" dirty="0">
                <a:solidFill>
                  <a:srgbClr val="1F1F1F"/>
                </a:solidFill>
              </a:rPr>
              <a:t>é</a:t>
            </a:r>
            <a:r>
              <a:rPr sz="2200" dirty="0">
                <a:solidFill>
                  <a:srgbClr val="1F1F1F"/>
                </a:solidFill>
              </a:rPr>
              <a:t> sur </a:t>
            </a:r>
            <a:r>
              <a:rPr sz="2200" dirty="0" err="1">
                <a:solidFill>
                  <a:srgbClr val="1F1F1F"/>
                </a:solidFill>
              </a:rPr>
              <a:t>hôtes</a:t>
            </a:r>
            <a:r>
              <a:rPr sz="2200" dirty="0">
                <a:solidFill>
                  <a:srgbClr val="1F1F1F"/>
                </a:solidFill>
              </a:rPr>
              <a:t>, VM </a:t>
            </a:r>
            <a:r>
              <a:rPr sz="2200" dirty="0" err="1">
                <a:solidFill>
                  <a:srgbClr val="1F1F1F"/>
                </a:solidFill>
              </a:rPr>
              <a:t>ou</a:t>
            </a:r>
            <a:r>
              <a:rPr sz="2200" dirty="0">
                <a:solidFill>
                  <a:srgbClr val="1F1F1F"/>
                </a:solidFill>
              </a:rPr>
              <a:t> </a:t>
            </a:r>
            <a:r>
              <a:rPr sz="2200" dirty="0" err="1">
                <a:solidFill>
                  <a:srgbClr val="1F1F1F"/>
                </a:solidFill>
              </a:rPr>
              <a:t>conteneurs</a:t>
            </a:r>
            <a:endParaRPr sz="2200" dirty="0">
              <a:solidFill>
                <a:srgbClr val="1F1F1F"/>
              </a:solidFill>
            </a:endParaRPr>
          </a:p>
          <a:p>
            <a:r>
              <a:rPr sz="2200" dirty="0">
                <a:solidFill>
                  <a:srgbClr val="1F1F1F"/>
                </a:solidFill>
              </a:rPr>
              <a:t>Auto-discovery des processus, services et </a:t>
            </a:r>
            <a:r>
              <a:rPr lang="fr-FR" sz="2200" dirty="0">
                <a:solidFill>
                  <a:srgbClr val="1F1F1F"/>
                </a:solidFill>
              </a:rPr>
              <a:t>dépendances</a:t>
            </a:r>
            <a:endParaRPr sz="2200" dirty="0">
              <a:solidFill>
                <a:srgbClr val="1F1F1F"/>
              </a:solidFill>
            </a:endParaRPr>
          </a:p>
          <a:p>
            <a:r>
              <a:rPr sz="2200" dirty="0" err="1">
                <a:solidFill>
                  <a:srgbClr val="1F1F1F"/>
                </a:solidFill>
              </a:rPr>
              <a:t>Collecte</a:t>
            </a:r>
            <a:r>
              <a:rPr sz="2200" dirty="0">
                <a:solidFill>
                  <a:srgbClr val="1F1F1F"/>
                </a:solidFill>
              </a:rPr>
              <a:t> </a:t>
            </a:r>
            <a:r>
              <a:rPr sz="2200" dirty="0" err="1">
                <a:solidFill>
                  <a:srgbClr val="1F1F1F"/>
                </a:solidFill>
              </a:rPr>
              <a:t>métriques</a:t>
            </a:r>
            <a:r>
              <a:rPr sz="2200" dirty="0">
                <a:solidFill>
                  <a:srgbClr val="1F1F1F"/>
                </a:solidFill>
              </a:rPr>
              <a:t>, traces et logs (</a:t>
            </a:r>
            <a:r>
              <a:rPr sz="2200" dirty="0" err="1">
                <a:solidFill>
                  <a:srgbClr val="1F1F1F"/>
                </a:solidFill>
              </a:rPr>
              <a:t>selon</a:t>
            </a:r>
            <a:r>
              <a:rPr sz="2200" dirty="0">
                <a:solidFill>
                  <a:srgbClr val="1F1F1F"/>
                </a:solidFill>
              </a:rPr>
              <a:t> config)</a:t>
            </a:r>
          </a:p>
          <a:p>
            <a:r>
              <a:rPr sz="2200" dirty="0" err="1">
                <a:solidFill>
                  <a:srgbClr val="1F1F1F"/>
                </a:solidFill>
              </a:rPr>
              <a:t>Améliore</a:t>
            </a:r>
            <a:r>
              <a:rPr sz="2200" dirty="0">
                <a:solidFill>
                  <a:srgbClr val="1F1F1F"/>
                </a:solidFill>
              </a:rPr>
              <a:t> la </a:t>
            </a:r>
            <a:r>
              <a:rPr sz="2200" dirty="0" err="1">
                <a:solidFill>
                  <a:srgbClr val="1F1F1F"/>
                </a:solidFill>
              </a:rPr>
              <a:t>précision</a:t>
            </a:r>
            <a:r>
              <a:rPr sz="2200" dirty="0">
                <a:solidFill>
                  <a:srgbClr val="1F1F1F"/>
                </a:solidFill>
              </a:rPr>
              <a:t> de </a:t>
            </a:r>
            <a:r>
              <a:rPr sz="2200" dirty="0" err="1">
                <a:solidFill>
                  <a:srgbClr val="1F1F1F"/>
                </a:solidFill>
              </a:rPr>
              <a:t>l'analyse</a:t>
            </a:r>
            <a:r>
              <a:rPr sz="2200" dirty="0">
                <a:solidFill>
                  <a:srgbClr val="1F1F1F"/>
                </a:solidFill>
              </a:rPr>
              <a:t> Davis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Module 2 - Navigation dans Dynatrace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F1F1F"/>
                </a:solidFill>
              </a:rPr>
              <a:t>Infrastructure -&gt; Hosts : santé des hôtes</a:t>
            </a:r>
          </a:p>
          <a:p>
            <a:r>
              <a:rPr sz="2200">
                <a:solidFill>
                  <a:srgbClr val="1F1F1F"/>
                </a:solidFill>
              </a:rPr>
              <a:t>Applications -&gt; Services : erreurs, latence, débit</a:t>
            </a:r>
          </a:p>
          <a:p>
            <a:r>
              <a:rPr sz="2200">
                <a:solidFill>
                  <a:srgbClr val="1F1F1F"/>
                </a:solidFill>
              </a:rPr>
              <a:t>Infrastructure -&gt; Smartscape: topologie applicative</a:t>
            </a:r>
          </a:p>
          <a:p>
            <a:r>
              <a:rPr sz="2200">
                <a:solidFill>
                  <a:srgbClr val="1F1F1F"/>
                </a:solidFill>
              </a:rPr>
              <a:t>Alerts -&gt; Problems : incidents et cause racine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Exercice guide - Analyse d'un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F1F1F"/>
                </a:solidFill>
              </a:rPr>
              <a:t>Ouvrir Alerts -&gt; Problems</a:t>
            </a:r>
          </a:p>
          <a:p>
            <a:r>
              <a:rPr sz="2200">
                <a:solidFill>
                  <a:srgbClr val="1F1F1F"/>
                </a:solidFill>
              </a:rPr>
              <a:t>Sélectionner un incident ouvert ou résolu</a:t>
            </a:r>
          </a:p>
          <a:p>
            <a:r>
              <a:rPr sz="2200">
                <a:solidFill>
                  <a:srgbClr val="1F1F1F"/>
                </a:solidFill>
              </a:rPr>
              <a:t>Identifier les entités impactées</a:t>
            </a:r>
          </a:p>
          <a:p>
            <a:r>
              <a:rPr sz="2200">
                <a:solidFill>
                  <a:srgbClr val="1F1F1F"/>
                </a:solidFill>
              </a:rPr>
              <a:t>Lire la timeline et la root cause Davis AI</a:t>
            </a:r>
          </a:p>
          <a:p>
            <a:r>
              <a:rPr sz="2200">
                <a:solidFill>
                  <a:srgbClr val="1F1F1F"/>
                </a:solidFill>
              </a:rPr>
              <a:t>Valider le plan d'action de remédiation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Module 4 &amp; 5</a:t>
            </a:r>
          </a:p>
          <a:p>
            <a:r>
              <a:rPr sz="2000">
                <a:solidFill>
                  <a:srgbClr val="FFFFFF"/>
                </a:solidFill>
              </a:rPr>
              <a:t>Logs, DQL et dashboards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3383280" cy="109728"/>
          </a:xfrm>
          <a:prstGeom prst="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Module 4 - Logs et DQL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F1F1F"/>
                </a:solidFill>
              </a:rPr>
              <a:t>Filtrer rapidement les erreurs: loglevel == "ERROR"</a:t>
            </a:r>
          </a:p>
          <a:p>
            <a:r>
              <a:rPr sz="2200">
                <a:solidFill>
                  <a:srgbClr val="1F1F1F"/>
                </a:solidFill>
              </a:rPr>
              <a:t>Identifier les services les plus bruyants</a:t>
            </a:r>
          </a:p>
          <a:p>
            <a:r>
              <a:rPr sz="2200">
                <a:solidFill>
                  <a:srgbClr val="1F1F1F"/>
                </a:solidFill>
              </a:rPr>
              <a:t>Visualiser l'évolution des erreurs dans le temps</a:t>
            </a:r>
          </a:p>
          <a:p>
            <a:r>
              <a:rPr sz="2200">
                <a:solidFill>
                  <a:srgbClr val="1F1F1F"/>
                </a:solidFill>
              </a:rPr>
              <a:t>Transformer une requête DQL en tile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5 requêtes DQL indispensables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 err="1">
                <a:solidFill>
                  <a:srgbClr val="1F1F1F"/>
                </a:solidFill>
              </a:rPr>
              <a:t>Compter</a:t>
            </a:r>
            <a:r>
              <a:rPr sz="2200" dirty="0">
                <a:solidFill>
                  <a:srgbClr val="1F1F1F"/>
                </a:solidFill>
              </a:rPr>
              <a:t> les </a:t>
            </a:r>
            <a:r>
              <a:rPr sz="2200" dirty="0" err="1">
                <a:solidFill>
                  <a:srgbClr val="1F1F1F"/>
                </a:solidFill>
              </a:rPr>
              <a:t>erreurs</a:t>
            </a:r>
            <a:r>
              <a:rPr sz="2200" dirty="0">
                <a:solidFill>
                  <a:srgbClr val="1F1F1F"/>
                </a:solidFill>
              </a:rPr>
              <a:t> </a:t>
            </a:r>
            <a:r>
              <a:rPr sz="2200" dirty="0" err="1">
                <a:solidFill>
                  <a:srgbClr val="1F1F1F"/>
                </a:solidFill>
              </a:rPr>
              <a:t>globales</a:t>
            </a:r>
            <a:endParaRPr sz="2200" dirty="0">
              <a:solidFill>
                <a:srgbClr val="1F1F1F"/>
              </a:solidFill>
            </a:endParaRPr>
          </a:p>
          <a:p>
            <a:r>
              <a:rPr sz="2200" dirty="0">
                <a:solidFill>
                  <a:srgbClr val="1F1F1F"/>
                </a:solidFill>
              </a:rPr>
              <a:t>Lister les </a:t>
            </a:r>
            <a:r>
              <a:rPr sz="2200" dirty="0" err="1">
                <a:solidFill>
                  <a:srgbClr val="1F1F1F"/>
                </a:solidFill>
              </a:rPr>
              <a:t>dernières</a:t>
            </a:r>
            <a:r>
              <a:rPr sz="2200" dirty="0">
                <a:solidFill>
                  <a:srgbClr val="1F1F1F"/>
                </a:solidFill>
              </a:rPr>
              <a:t> </a:t>
            </a:r>
            <a:r>
              <a:rPr sz="2200" dirty="0" err="1">
                <a:solidFill>
                  <a:srgbClr val="1F1F1F"/>
                </a:solidFill>
              </a:rPr>
              <a:t>erreurs</a:t>
            </a:r>
            <a:r>
              <a:rPr sz="2200" dirty="0">
                <a:solidFill>
                  <a:srgbClr val="1F1F1F"/>
                </a:solidFill>
              </a:rPr>
              <a:t> avec </a:t>
            </a:r>
            <a:r>
              <a:rPr sz="2200" dirty="0" err="1">
                <a:solidFill>
                  <a:srgbClr val="1F1F1F"/>
                </a:solidFill>
              </a:rPr>
              <a:t>contexte</a:t>
            </a:r>
            <a:endParaRPr sz="2200" dirty="0">
              <a:solidFill>
                <a:srgbClr val="1F1F1F"/>
              </a:solidFill>
            </a:endParaRPr>
          </a:p>
          <a:p>
            <a:r>
              <a:rPr sz="2200" dirty="0">
                <a:solidFill>
                  <a:srgbClr val="1F1F1F"/>
                </a:solidFill>
              </a:rPr>
              <a:t>Classer les </a:t>
            </a:r>
            <a:r>
              <a:rPr sz="2200" dirty="0" err="1">
                <a:solidFill>
                  <a:srgbClr val="1F1F1F"/>
                </a:solidFill>
              </a:rPr>
              <a:t>erreurs</a:t>
            </a:r>
            <a:r>
              <a:rPr sz="2200" dirty="0">
                <a:solidFill>
                  <a:srgbClr val="1F1F1F"/>
                </a:solidFill>
              </a:rPr>
              <a:t> par service</a:t>
            </a:r>
          </a:p>
          <a:p>
            <a:r>
              <a:rPr sz="2200" dirty="0">
                <a:solidFill>
                  <a:srgbClr val="1F1F1F"/>
                </a:solidFill>
              </a:rPr>
              <a:t>Tracer les </a:t>
            </a:r>
            <a:r>
              <a:rPr sz="2200" dirty="0" err="1">
                <a:solidFill>
                  <a:srgbClr val="1F1F1F"/>
                </a:solidFill>
              </a:rPr>
              <a:t>erreurs</a:t>
            </a:r>
            <a:r>
              <a:rPr sz="2200" dirty="0">
                <a:solidFill>
                  <a:srgbClr val="1F1F1F"/>
                </a:solidFill>
              </a:rPr>
              <a:t> par tranche de 5 minutes</a:t>
            </a:r>
          </a:p>
          <a:p>
            <a:r>
              <a:rPr sz="2200" dirty="0" err="1">
                <a:solidFill>
                  <a:srgbClr val="1F1F1F"/>
                </a:solidFill>
              </a:rPr>
              <a:t>Filtrer</a:t>
            </a:r>
            <a:r>
              <a:rPr sz="2200" dirty="0">
                <a:solidFill>
                  <a:srgbClr val="1F1F1F"/>
                </a:solidFill>
              </a:rPr>
              <a:t> </a:t>
            </a:r>
            <a:r>
              <a:rPr sz="2200" dirty="0" err="1">
                <a:solidFill>
                  <a:srgbClr val="1F1F1F"/>
                </a:solidFill>
              </a:rPr>
              <a:t>dynamiquement</a:t>
            </a:r>
            <a:r>
              <a:rPr sz="2200" dirty="0">
                <a:solidFill>
                  <a:srgbClr val="1F1F1F"/>
                </a:solidFill>
              </a:rPr>
              <a:t> avec </a:t>
            </a:r>
            <a:r>
              <a:rPr sz="2200" dirty="0" err="1">
                <a:solidFill>
                  <a:srgbClr val="1F1F1F"/>
                </a:solidFill>
              </a:rPr>
              <a:t>une</a:t>
            </a:r>
            <a:r>
              <a:rPr sz="2200" dirty="0">
                <a:solidFill>
                  <a:srgbClr val="1F1F1F"/>
                </a:solidFill>
              </a:rPr>
              <a:t> variable {{$service}}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Module 5 - Construire un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F1F1F"/>
                </a:solidFill>
              </a:rPr>
              <a:t>Tile KPI : nombre d'erreurs</a:t>
            </a:r>
          </a:p>
          <a:p>
            <a:r>
              <a:rPr sz="2200">
                <a:solidFill>
                  <a:srgbClr val="1F1F1F"/>
                </a:solidFill>
              </a:rPr>
              <a:t>Tile Line chart : évolution des erreurs</a:t>
            </a:r>
          </a:p>
          <a:p>
            <a:r>
              <a:rPr sz="2200">
                <a:solidFill>
                  <a:srgbClr val="1F1F1F"/>
                </a:solidFill>
              </a:rPr>
              <a:t>Tile Table : Top 5 services en erreur</a:t>
            </a:r>
          </a:p>
          <a:p>
            <a:r>
              <a:rPr sz="2200">
                <a:solidFill>
                  <a:srgbClr val="1F1F1F"/>
                </a:solidFill>
              </a:rPr>
              <a:t>Variables dynamiques : $service, $env</a:t>
            </a:r>
          </a:p>
          <a:p>
            <a:r>
              <a:rPr sz="2200">
                <a:solidFill>
                  <a:srgbClr val="1F1F1F"/>
                </a:solidFill>
              </a:rPr>
              <a:t>Partage du dashboard avec l'équipe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Atelier Kubernetes + Dynatrace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F1F1F"/>
                </a:solidFill>
              </a:rPr>
              <a:t>Prérequis : cluster Kubernetes + Dynatrace Operator</a:t>
            </a:r>
          </a:p>
          <a:p>
            <a:r>
              <a:rPr sz="2200">
                <a:solidFill>
                  <a:srgbClr val="1F1F1F"/>
                </a:solidFill>
              </a:rPr>
              <a:t>Déploiement namespace, deployment, service, ingress</a:t>
            </a:r>
          </a:p>
          <a:p>
            <a:r>
              <a:rPr sz="2200">
                <a:solidFill>
                  <a:srgbClr val="1F1F1F"/>
                </a:solidFill>
              </a:rPr>
              <a:t>Injection OneAgent via annotations Kubernetes</a:t>
            </a:r>
          </a:p>
          <a:p>
            <a:r>
              <a:rPr sz="2200">
                <a:solidFill>
                  <a:srgbClr val="1F1F1F"/>
                </a:solidFill>
              </a:rPr>
              <a:t>Vérification des pods et de la visibilité Dynatrace</a:t>
            </a:r>
          </a:p>
          <a:p>
            <a:r>
              <a:rPr sz="2200">
                <a:solidFill>
                  <a:srgbClr val="1F1F1F"/>
                </a:solidFill>
              </a:rPr>
              <a:t>Test d'accès via Ingress NGINX (web-demo.local)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 dirty="0" err="1">
                <a:solidFill>
                  <a:srgbClr val="144A7C"/>
                </a:solidFill>
              </a:rPr>
              <a:t>Commandes</a:t>
            </a:r>
            <a:r>
              <a:rPr sz="3400" b="1" dirty="0">
                <a:solidFill>
                  <a:srgbClr val="144A7C"/>
                </a:solidFill>
              </a:rPr>
              <a:t> </a:t>
            </a:r>
            <a:r>
              <a:rPr lang="fr-FR" sz="3400" b="1" dirty="0" err="1">
                <a:solidFill>
                  <a:srgbClr val="144A7C"/>
                </a:solidFill>
              </a:rPr>
              <a:t>Kubernetes</a:t>
            </a:r>
            <a:endParaRPr sz="3400" b="1" dirty="0">
              <a:solidFill>
                <a:srgbClr val="144A7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 err="1">
                <a:solidFill>
                  <a:srgbClr val="1F1F1F"/>
                </a:solidFill>
              </a:rPr>
              <a:t>kubectl</a:t>
            </a:r>
            <a:r>
              <a:rPr sz="2200" dirty="0">
                <a:solidFill>
                  <a:srgbClr val="1F1F1F"/>
                </a:solidFill>
              </a:rPr>
              <a:t> apply -f k8s/</a:t>
            </a:r>
            <a:r>
              <a:rPr sz="2200" dirty="0" err="1">
                <a:solidFill>
                  <a:srgbClr val="1F1F1F"/>
                </a:solidFill>
              </a:rPr>
              <a:t>namespace.yaml</a:t>
            </a:r>
            <a:endParaRPr sz="2200" dirty="0">
              <a:solidFill>
                <a:srgbClr val="1F1F1F"/>
              </a:solidFill>
            </a:endParaRPr>
          </a:p>
          <a:p>
            <a:r>
              <a:rPr sz="2200" dirty="0" err="1">
                <a:solidFill>
                  <a:srgbClr val="1F1F1F"/>
                </a:solidFill>
              </a:rPr>
              <a:t>kubectl</a:t>
            </a:r>
            <a:r>
              <a:rPr sz="2200" dirty="0">
                <a:solidFill>
                  <a:srgbClr val="1F1F1F"/>
                </a:solidFill>
              </a:rPr>
              <a:t> apply -f k8s/</a:t>
            </a:r>
            <a:r>
              <a:rPr sz="2200" dirty="0" err="1">
                <a:solidFill>
                  <a:srgbClr val="1F1F1F"/>
                </a:solidFill>
              </a:rPr>
              <a:t>deployment.yaml</a:t>
            </a:r>
            <a:endParaRPr sz="2200" dirty="0">
              <a:solidFill>
                <a:srgbClr val="1F1F1F"/>
              </a:solidFill>
            </a:endParaRPr>
          </a:p>
          <a:p>
            <a:r>
              <a:rPr sz="2200" dirty="0" err="1">
                <a:solidFill>
                  <a:srgbClr val="1F1F1F"/>
                </a:solidFill>
              </a:rPr>
              <a:t>kubectl</a:t>
            </a:r>
            <a:r>
              <a:rPr sz="2200" dirty="0">
                <a:solidFill>
                  <a:srgbClr val="1F1F1F"/>
                </a:solidFill>
              </a:rPr>
              <a:t> apply -f k8s/</a:t>
            </a:r>
            <a:r>
              <a:rPr sz="2200" dirty="0" err="1">
                <a:solidFill>
                  <a:srgbClr val="1F1F1F"/>
                </a:solidFill>
              </a:rPr>
              <a:t>service.yaml</a:t>
            </a:r>
            <a:endParaRPr sz="2200" dirty="0">
              <a:solidFill>
                <a:srgbClr val="1F1F1F"/>
              </a:solidFill>
            </a:endParaRPr>
          </a:p>
          <a:p>
            <a:r>
              <a:rPr sz="2200" dirty="0" err="1">
                <a:solidFill>
                  <a:srgbClr val="1F1F1F"/>
                </a:solidFill>
              </a:rPr>
              <a:t>kubectl</a:t>
            </a:r>
            <a:r>
              <a:rPr sz="2200" dirty="0">
                <a:solidFill>
                  <a:srgbClr val="1F1F1F"/>
                </a:solidFill>
              </a:rPr>
              <a:t> apply -f k8s/</a:t>
            </a:r>
            <a:r>
              <a:rPr sz="2200" dirty="0" err="1">
                <a:solidFill>
                  <a:srgbClr val="1F1F1F"/>
                </a:solidFill>
              </a:rPr>
              <a:t>ingress.yaml</a:t>
            </a:r>
            <a:endParaRPr sz="2200" dirty="0">
              <a:solidFill>
                <a:srgbClr val="1F1F1F"/>
              </a:solidFill>
            </a:endParaRPr>
          </a:p>
          <a:p>
            <a:r>
              <a:rPr sz="2200" dirty="0" err="1">
                <a:solidFill>
                  <a:srgbClr val="1F1F1F"/>
                </a:solidFill>
              </a:rPr>
              <a:t>kubectl</a:t>
            </a:r>
            <a:r>
              <a:rPr sz="2200" dirty="0">
                <a:solidFill>
                  <a:srgbClr val="1F1F1F"/>
                </a:solidFill>
              </a:rPr>
              <a:t> get </a:t>
            </a:r>
            <a:r>
              <a:rPr sz="2200" dirty="0" err="1">
                <a:solidFill>
                  <a:srgbClr val="1F1F1F"/>
                </a:solidFill>
              </a:rPr>
              <a:t>pods,svc,ingress</a:t>
            </a:r>
            <a:r>
              <a:rPr sz="2200" dirty="0">
                <a:solidFill>
                  <a:srgbClr val="1F1F1F"/>
                </a:solidFill>
              </a:rPr>
              <a:t> -n </a:t>
            </a:r>
            <a:r>
              <a:rPr sz="2200" dirty="0" err="1">
                <a:solidFill>
                  <a:srgbClr val="1F1F1F"/>
                </a:solidFill>
              </a:rPr>
              <a:t>dynatrace</a:t>
            </a:r>
            <a:r>
              <a:rPr sz="2200" dirty="0">
                <a:solidFill>
                  <a:srgbClr val="1F1F1F"/>
                </a:solidFill>
              </a:rPr>
              <a:t>-demo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Module 6</a:t>
            </a:r>
          </a:p>
          <a:p>
            <a:r>
              <a:rPr sz="2000">
                <a:solidFill>
                  <a:srgbClr val="FFFFFF"/>
                </a:solidFill>
              </a:rPr>
              <a:t>Bilan, quiz et prochaines étapes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3383280" cy="109728"/>
          </a:xfrm>
          <a:prstGeom prst="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Bonnes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F1F1F"/>
                </a:solidFill>
              </a:rPr>
              <a:t>Ne jamais versionner des binaires lourds ou des tokens</a:t>
            </a:r>
          </a:p>
          <a:p>
            <a:r>
              <a:rPr sz="2200">
                <a:solidFill>
                  <a:srgbClr val="1F1F1F"/>
                </a:solidFill>
              </a:rPr>
              <a:t>Commencer avec des seuils d'alerte larges puis affiner</a:t>
            </a:r>
          </a:p>
          <a:p>
            <a:r>
              <a:rPr sz="2200">
                <a:solidFill>
                  <a:srgbClr val="1F1F1F"/>
                </a:solidFill>
              </a:rPr>
              <a:t>Construire des dashboards par usage (ops/dev/management)</a:t>
            </a:r>
          </a:p>
          <a:p>
            <a:r>
              <a:rPr sz="2200">
                <a:solidFill>
                  <a:srgbClr val="1F1F1F"/>
                </a:solidFill>
              </a:rPr>
              <a:t>Documenter les requêtes DQL réutilisables</a:t>
            </a:r>
          </a:p>
          <a:p>
            <a:r>
              <a:rPr sz="2200">
                <a:solidFill>
                  <a:srgbClr val="1F1F1F"/>
                </a:solidFill>
              </a:rPr>
              <a:t>Sécuriser les accès et privilégier le moindre privilège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Bilan &amp; quiz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F1F1F"/>
                </a:solidFill>
              </a:rPr>
              <a:t>Rôle de Davis AI dans la détection et la root cause</a:t>
            </a:r>
          </a:p>
          <a:p>
            <a:r>
              <a:rPr sz="2200">
                <a:solidFill>
                  <a:srgbClr val="1F1F1F"/>
                </a:solidFill>
              </a:rPr>
              <a:t>Filtrage de logs avec DQL</a:t>
            </a:r>
          </a:p>
          <a:p>
            <a:r>
              <a:rPr sz="2200">
                <a:solidFill>
                  <a:srgbClr val="1F1F1F"/>
                </a:solidFill>
              </a:rPr>
              <a:t>Différence Problem vs alerte de seuil</a:t>
            </a:r>
          </a:p>
          <a:p>
            <a:r>
              <a:rPr sz="2200">
                <a:solidFill>
                  <a:srgbClr val="1F1F1F"/>
                </a:solidFill>
              </a:rPr>
              <a:t>Création de variable dashboard et usage dans DQL</a:t>
            </a:r>
          </a:p>
          <a:p>
            <a:r>
              <a:rPr sz="2200">
                <a:solidFill>
                  <a:srgbClr val="1F1F1F"/>
                </a:solidFill>
              </a:rPr>
              <a:t>Plan d'amélioration continue post-formation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4A7C"/>
                </a:solidFill>
              </a:rPr>
              <a:t>Ressources utiles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F1F1F"/>
                </a:solidFill>
              </a:rPr>
              <a:t>Dynatrace University: university.dynatrace.com</a:t>
            </a:r>
          </a:p>
          <a:p>
            <a:r>
              <a:rPr sz="2200">
                <a:solidFill>
                  <a:srgbClr val="1F1F1F"/>
                </a:solidFill>
              </a:rPr>
              <a:t>Documentation: docs.dynatrace.com</a:t>
            </a:r>
          </a:p>
          <a:p>
            <a:r>
              <a:rPr sz="2200">
                <a:solidFill>
                  <a:srgbClr val="1F1F1F"/>
                </a:solidFill>
              </a:rPr>
              <a:t>Community: community.dynatrace.com</a:t>
            </a:r>
          </a:p>
          <a:p>
            <a:r>
              <a:rPr sz="2200">
                <a:solidFill>
                  <a:srgbClr val="1F1F1F"/>
                </a:solidFill>
              </a:rPr>
              <a:t>Parcours recommandé : certification Associate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Dynatrace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73152"/>
          </a:xfrm>
          <a:prstGeom prst="rect">
            <a:avLst/>
          </a:prstGeom>
          <a:solidFill>
            <a:srgbClr val="14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Merci 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Questions / Réponses</a:t>
            </a:r>
          </a:p>
          <a:p>
            <a:r>
              <a:rPr sz="1800">
                <a:solidFill>
                  <a:srgbClr val="FFFFFF"/>
                </a:solidFill>
              </a:rPr>
              <a:t>Contact formateur : à personnaliser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28600"/>
            <a:ext cx="2103120" cy="411480"/>
          </a:xfrm>
          <a:prstGeom prst="roundRect">
            <a:avLst/>
          </a:prstGeom>
          <a:solidFill>
            <a:srgbClr val="6CD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Client Ready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Formation Dynatrace | Support visuel 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777</Words>
  <Application>Microsoft Office PowerPoint</Application>
  <PresentationFormat>Affichage à l'écran (4:3)</PresentationFormat>
  <Paragraphs>144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Formation Dynatrace</vt:lpstr>
      <vt:lpstr>Connaître Dynatrace en 3 Heures</vt:lpstr>
      <vt:lpstr>Programme de la formation (3h)</vt:lpstr>
      <vt:lpstr>Présentation PowerPoint</vt:lpstr>
      <vt:lpstr>Objectifs pédagogiques</vt:lpstr>
      <vt:lpstr>Dynatrace en bref</vt:lpstr>
      <vt:lpstr>Les 4 types de données</vt:lpstr>
      <vt:lpstr>OneAgent: composant essentiel</vt:lpstr>
      <vt:lpstr>Module 2 - Navigation dans Dynatrace</vt:lpstr>
      <vt:lpstr>Exercice guide - Analyse d'un Problem</vt:lpstr>
      <vt:lpstr>Présentation PowerPoint</vt:lpstr>
      <vt:lpstr>Module 4 - Logs et DQL</vt:lpstr>
      <vt:lpstr>5 requêtes DQL indispensables</vt:lpstr>
      <vt:lpstr>Module 5 - Construire un Dashboard</vt:lpstr>
      <vt:lpstr>Atelier Kubernetes + Dynatrace</vt:lpstr>
      <vt:lpstr>Commandes Kubernetes</vt:lpstr>
      <vt:lpstr>Présentation PowerPoint</vt:lpstr>
      <vt:lpstr>Bonnes pratiques</vt:lpstr>
      <vt:lpstr>Bilan &amp; quiz final</vt:lpstr>
      <vt:lpstr>Ressources utiles</vt:lpstr>
      <vt:lpstr>Merci 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Sonia CHOYTUN</cp:lastModifiedBy>
  <cp:revision>4</cp:revision>
  <dcterms:created xsi:type="dcterms:W3CDTF">2013-01-27T09:14:16Z</dcterms:created>
  <dcterms:modified xsi:type="dcterms:W3CDTF">2026-05-03T16:51:12Z</dcterms:modified>
  <cp:category/>
</cp:coreProperties>
</file>